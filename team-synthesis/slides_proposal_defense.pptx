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9144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vs Manual vs EvoMaster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 API Test Generation on Pre-seeded-Fault Benchmarks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66928" y="3429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Proposal  ·  Pending instructor approval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66928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SWT301_SU26_Group2</a:t>
            </a:r>
            <a:pPr indent="0" marL="0"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Topic SE1916   ·   2026-06-13   ·   v1.0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5349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 (SE190034) · Huy (SE190240) · Dat (SE190239) · Thuan (SE190305) · Nguyen (SE190220)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 &amp; The Gap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can generate REST API tests from an OpenAPI spec — but is that output as good as a human's or EvoMaster's on faults we can actually count?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352044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286000"/>
            <a:ext cx="3520440" cy="109728"/>
          </a:xfrm>
          <a:prstGeom prst="round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4203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GAP-C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Comparison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584448"/>
            <a:ext cx="30175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study puts LLM vs Manual vs EvoMaster on the same APIs. The only manual comparison (EvoMaster '19) is non-LLM — and scored below manual.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06824" y="2286000"/>
            <a:ext cx="352044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06824" y="2286000"/>
            <a:ext cx="3520440" cy="109728"/>
          </a:xfrm>
          <a:prstGeom prst="roundRect">
            <a:avLst/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4581144" y="254203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GAP-D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81144" y="309067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/ Ground truth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81144" y="3584448"/>
            <a:ext cx="30175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detection = raw 500-error counts on live APIs. No shared pre-seeded-fault set → ground-truth Recall is never computed.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65008" y="2286000"/>
            <a:ext cx="352044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65008" y="2286000"/>
            <a:ext cx="3520440" cy="109728"/>
          </a:xfrm>
          <a:prstGeom prst="roundRect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8339328" y="254203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8C6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GAP-M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339328" y="309067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Metric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39328" y="3584448"/>
            <a:ext cx="30175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Coverage-biased. No per-endpoint edge-case/error-code metric, no endpoint-type miss profile (CRUD / auth / error-handling).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cluster: GAP-C + GAP-D  ·  GAP-M = metric facet  ·  (59 papers, 2018–2026)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 — 59 papers (representative)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0408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  <a:gridCol w="1737360"/>
                <a:gridCol w="18288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/ LLM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result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RESTGPT '24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GPT-3.5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 P/R/F1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97% precision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 '24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GPT-3.5-turbo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status-code cov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 (+15.7pp)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AutoRestTest '25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GPT-3.5 + MARL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cov / 500s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42 500s vs EvoMaster 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LlamaRestTest '25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Llama3-8B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cov / faults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 faults vs 130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RESTifAI '26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GPT-4.1-mini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 coverage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128/134 ≈ 95.5%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EvoMaster '19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search-based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 vs MANUAL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 gen vs 82% manual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63840" y="1371600"/>
            <a:ext cx="3776472" cy="3840480"/>
          </a:xfrm>
          <a:prstGeom prst="roundRect">
            <a:avLst>
              <a:gd name="adj" fmla="val 1937"/>
            </a:avLst>
          </a:prstGeom>
          <a:solidFill>
            <a:srgbClr val="0F1B2B"/>
          </a:solidFill>
          <a:ln/>
        </p:spPr>
      </p:sp>
      <p:sp>
        <p:nvSpPr>
          <p:cNvPr id="5" name="Text 2"/>
          <p:cNvSpPr/>
          <p:nvPr/>
        </p:nvSpPr>
        <p:spPr>
          <a:xfrm>
            <a:off x="8092440" y="1554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8092440" y="2011680"/>
            <a:ext cx="33375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dirty="0">
                <a:solidFill>
                  <a:srgbClr val="E6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 dominates the LLM line.</a:t>
            </a:r>
            <a:endParaRPr lang="en-US" sz="13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dirty="0">
                <a:solidFill>
                  <a:srgbClr val="E6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= coverage + 500-error counts only.</a:t>
            </a:r>
            <a:endParaRPr lang="en-US" sz="13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dirty="0">
                <a:solidFill>
                  <a:srgbClr val="E6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 are automated-only — no manual suite.</a:t>
            </a:r>
            <a:endParaRPr lang="en-US" sz="13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350" dirty="0">
                <a:solidFill>
                  <a:srgbClr val="E6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numbers are live-API counts — never Recall vs a known total.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after approval — no changes (No-HARKing)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28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828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RQ1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25880" y="176479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Coverage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258568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LLM endpoint coverage &gt; 90%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040880" y="1783080"/>
            <a:ext cx="4480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52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 coverage %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 90%  (Case 2)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52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1-sample Wilcoxon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227832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456432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4564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77240" y="34564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RQ2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25880" y="3392424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Fault detection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25880" y="38862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Recall(LLM) &gt; Manual &amp; EvoMaster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40880" y="3410712"/>
            <a:ext cx="4480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52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mutation-kill Recall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comparative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52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Friedman + McNemar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855464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5084064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50840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77240" y="50840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RQ3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325880" y="5020056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Edge cases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25880" y="5513832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edge-cases/endpoint LLM &gt; Manual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40880" y="5038344"/>
            <a:ext cx="4480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52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scenarios / endpoint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 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comparative (Case 3)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52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paired Wilcoxon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 Protocol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5240">
            <a:solidFill>
              <a:srgbClr val="DCE4E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73736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5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432304" y="173736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834640" y="173736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1C7293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34640" y="173736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4.6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18304" y="173736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120640" y="173736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5240">
            <a:solidFill>
              <a:srgbClr val="DC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0" y="173736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REST-assured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5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004304" y="173736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406640" y="173736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5240">
            <a:solidFill>
              <a:srgbClr val="DC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06640" y="173736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vs original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5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mutants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290304" y="173736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692640" y="1737360"/>
            <a:ext cx="192024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5240">
            <a:solidFill>
              <a:srgbClr val="DC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0" y="173736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· Recall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5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edge-cases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333756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560320" y="3337560"/>
            <a:ext cx="9052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5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EMB APIs (rest-ncs, rest-scs, features-service) = 35 ops; mutation-seeded faults (ground truth)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40690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config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560320" y="4069080"/>
            <a:ext cx="9052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5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claude-sonnet-4-6 · temp 0 · few-shot from spec · prompt logged verbatim (pilot + full, same model)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48640" y="48006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560320" y="4800600"/>
            <a:ext cx="9052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5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(EP/BVA, blind) + EvoMaster 6.0.0 black-box (--maxTime 120s)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48640" y="553212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2560320" y="5532120"/>
            <a:ext cx="9052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5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Wilcoxon / Friedman+McNemar / paired Wilcoxon · α=0.05 · Holm+Bonferroni · effect sizes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Timeline &amp; Roles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474720" cy="1005840"/>
          </a:xfrm>
          <a:prstGeom prst="roundRect">
            <a:avLst>
              <a:gd name="adj" fmla="val 7273"/>
            </a:avLst>
          </a:prstGeom>
          <a:solidFill>
            <a:srgbClr val="065A82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 5–6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103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+ GV approval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06240" y="1554480"/>
            <a:ext cx="3474720" cy="1005840"/>
          </a:xfrm>
          <a:prstGeom prst="roundRect">
            <a:avLst>
              <a:gd name="adj" fmla="val 7273"/>
            </a:avLst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4434840" y="169164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 7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434840" y="2103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 done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63840" y="1554480"/>
            <a:ext cx="3474720" cy="1005840"/>
          </a:xfrm>
          <a:prstGeom prst="roundRect">
            <a:avLst>
              <a:gd name="adj" fmla="val 7273"/>
            </a:avLst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8092440" y="169164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 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092440" y="2103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 (Claude Sonnet 4.6)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788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Roles  (1 deliverable each · LR != MS enforced)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2103120" cy="2194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3611880"/>
            <a:ext cx="548640" cy="548640"/>
          </a:xfrm>
          <a:prstGeom prst="ellipse">
            <a:avLst/>
          </a:prstGeom>
          <a:solidFill>
            <a:srgbClr val="0F1B2B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3611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2519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2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Nguyen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466344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· merge · GV liaison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798064" y="3429000"/>
            <a:ext cx="2103120" cy="2194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75304" y="3611880"/>
            <a:ext cx="548640" cy="548640"/>
          </a:xfrm>
          <a:prstGeom prst="ellipse">
            <a:avLst/>
          </a:prstGeom>
          <a:solidFill>
            <a:srgbClr val="0F1B2B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611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798064" y="42519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2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935224" y="466344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· fault catalog · §3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47488" y="3429000"/>
            <a:ext cx="2103120" cy="2194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24728" y="3611880"/>
            <a:ext cx="548640" cy="548640"/>
          </a:xfrm>
          <a:prstGeom prst="ellipse">
            <a:avLst/>
          </a:prstGeom>
          <a:solidFill>
            <a:srgbClr val="0F1B2B"/>
          </a:solidFill>
          <a:ln/>
        </p:spPr>
      </p:sp>
      <p:sp>
        <p:nvSpPr>
          <p:cNvPr id="25" name="Text 23"/>
          <p:cNvSpPr/>
          <p:nvPr/>
        </p:nvSpPr>
        <p:spPr>
          <a:xfrm>
            <a:off x="5824728" y="3611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LR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047488" y="42519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2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Dung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84648" y="466344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· LLM/EvoMaster runs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296912" y="3429000"/>
            <a:ext cx="2103120" cy="2194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74152" y="3611880"/>
            <a:ext cx="548640" cy="548640"/>
          </a:xfrm>
          <a:prstGeom prst="ellipse">
            <a:avLst/>
          </a:prstGeom>
          <a:solidFill>
            <a:srgbClr val="0F1B2B"/>
          </a:solidFill>
          <a:ln/>
        </p:spPr>
      </p:sp>
      <p:sp>
        <p:nvSpPr>
          <p:cNvPr id="30" name="Text 28"/>
          <p:cNvSpPr/>
          <p:nvPr/>
        </p:nvSpPr>
        <p:spPr>
          <a:xfrm>
            <a:off x="8074152" y="3611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296912" y="42519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2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Huy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434072" y="466344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· statistical tests · §6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9546336" y="3429000"/>
            <a:ext cx="2103120" cy="2194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323576" y="3611880"/>
            <a:ext cx="548640" cy="548640"/>
          </a:xfrm>
          <a:prstGeom prst="ellipse">
            <a:avLst/>
          </a:prstGeom>
          <a:solidFill>
            <a:srgbClr val="0F1B2B"/>
          </a:solidFill>
          <a:ln/>
        </p:spPr>
      </p:sp>
      <p:sp>
        <p:nvSpPr>
          <p:cNvPr id="35" name="Text 33"/>
          <p:cNvSpPr/>
          <p:nvPr/>
        </p:nvSpPr>
        <p:spPr>
          <a:xfrm>
            <a:off x="10323576" y="3611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RW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546336" y="42519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2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Thuan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683496" y="466344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 · format · slides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Threats to Validity — top 3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94415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37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48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Internal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" y="2212848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&amp; Manual both Claude-authored in pilot (author bias)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212080" y="1737360"/>
            <a:ext cx="365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577840" y="1783080"/>
            <a:ext cx="59436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5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protocol (suites built before faults; spec-only sub-agent logs) + independent Manual re-authoring (a separate Claude Sonnet 4.6 session) for the full run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11094415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246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48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External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3721608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small EMB APIs; n=3 limits Friedman power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212080" y="3246120"/>
            <a:ext cx="365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577840" y="3291840"/>
            <a:ext cx="59436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5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Per-fault McNemar pooled (N≈133) is the primary RQ2 test; EMB/JVM-only stated as a limit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572000"/>
            <a:ext cx="11094415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754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48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Construct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77240" y="5230368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kill ≠ real-fault detection; coverage ≠ quality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212080" y="4754880"/>
            <a:ext cx="365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577840" y="4800600"/>
            <a:ext cx="59436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5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PIT/Offutt operators (cited); report Recall + coverage + edge-cases jointly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Preliminary Pilot Signal (Week 7)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evidence — full run with Claude Sonnet 4.6 will confirm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20440" cy="2743200"/>
          </a:xfrm>
          <a:prstGeom prst="roundRect">
            <a:avLst>
              <a:gd name="adj" fmla="val 3333"/>
            </a:avLst>
          </a:prstGeom>
          <a:solidFill>
            <a:srgbClr val="16263A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46888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3474720"/>
            <a:ext cx="3063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6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endpoint coverage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E6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(RQ1 · 35/35 ops · p≈1.6e-9)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06824" y="2011680"/>
            <a:ext cx="3520440" cy="2743200"/>
          </a:xfrm>
          <a:prstGeom prst="roundRect">
            <a:avLst>
              <a:gd name="adj" fmla="val 3333"/>
            </a:avLst>
          </a:prstGeom>
          <a:solidFill>
            <a:srgbClr val="16263A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43984" y="246888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217 vs 141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535424" y="3474720"/>
            <a:ext cx="3063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6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edge-case scenarios LLM vs Manual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E6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(RQ3 · median 5 vs 4 · p≈6.2e-7)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65008" y="2011680"/>
            <a:ext cx="3520440" cy="2743200"/>
          </a:xfrm>
          <a:prstGeom prst="roundRect">
            <a:avLst>
              <a:gd name="adj" fmla="val 3333"/>
            </a:avLst>
          </a:prstGeom>
          <a:solidFill>
            <a:srgbClr val="16263A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02168" y="246888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0.135 vs 0.068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293608" y="3474720"/>
            <a:ext cx="3063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6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Recall EvoMaster vs LLM/Manual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E6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(RQ2 · value-oracle catches logic faults)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52120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and full run both use Claude Sonnet 4.6 (claude-sonnet-4-6) — no model swap.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2026-07-18T01:14:09Z</dcterms:created>
  <dcterms:modified xsi:type="dcterms:W3CDTF">2026-07-18T01:14:09Z</dcterms:modified>
</cp:coreProperties>
</file>